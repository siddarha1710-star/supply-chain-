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Noto Serif"/>
      <p:regular r:id="rId201314"/>
    </p:embeddedFont>
    <p:embeddedFont>
      <p:font typeface="Noto Serif Medium"/>
      <p:regular r:id="rId201315"/>
    </p:embeddedFont>
    <p:embeddedFont>
      <p:font typeface="Noto Serif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1.png"/><Relationship Id="rId8" Type="http://schemas.openxmlformats.org/officeDocument/2006/relationships/image" Target="../media/image-3-2.svg"/><Relationship Id="rId9" Type="http://schemas.openxmlformats.org/officeDocument/2006/relationships/image" Target="../media/image-3-1.png"/><Relationship Id="rId10" Type="http://schemas.openxmlformats.org/officeDocument/2006/relationships/image" Target="../media/image-3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4229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250" spc="-65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Uniquexcel Supply Chain Optimization Analysis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425105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spc="-33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Data-Driven Logistics &amp; Operational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2972891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C4C4C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2415" y="3219252"/>
            <a:ext cx="3591629" cy="1796355"/>
          </a:xfrm>
          <a:prstGeom prst="roundRect">
            <a:avLst>
              <a:gd name="adj" fmla="val 6629"/>
            </a:avLst>
          </a:prstGeom>
          <a:solidFill>
            <a:srgbClr val="9C9283"/>
          </a:solidFill>
          <a:ln/>
        </p:spPr>
      </p:sp>
      <p:sp>
        <p:nvSpPr>
          <p:cNvPr id="6" name="Text 4"/>
          <p:cNvSpPr/>
          <p:nvPr/>
        </p:nvSpPr>
        <p:spPr>
          <a:xfrm>
            <a:off x="707710" y="3384550"/>
            <a:ext cx="32610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33" kern="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Prepared For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7710" y="3808313"/>
            <a:ext cx="3261040" cy="942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Uniquexcel Executive Leadership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U.S. Fashion &amp; Beauty Startup — Skincare &amp; Haircare Division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24748" y="3384550"/>
            <a:ext cx="335351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33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Scope of Analysis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24748" y="3808313"/>
            <a:ext cx="3353510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488 SKUs analyzed across supplier performance, route efficiency, stockout exposure, and profitability using advanced Excel data analytics.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88021" y="3384550"/>
            <a:ext cx="335351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33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88021" y="3808313"/>
            <a:ext cx="335351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Pivot Tables · Dynamic Formulas · Conditional Formatting · Interactive KPI Dashboards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74266"/>
            <a:ext cx="1584186" cy="243384"/>
          </a:xfrm>
          <a:prstGeom prst="roundRect">
            <a:avLst>
              <a:gd name="adj" fmla="val 22119"/>
            </a:avLst>
          </a:prstGeom>
          <a:solidFill>
            <a:srgbClr val="E8E6E3"/>
          </a:solidFill>
          <a:ln/>
        </p:spPr>
      </p:sp>
      <p:sp>
        <p:nvSpPr>
          <p:cNvPr id="3" name="Text 1"/>
          <p:cNvSpPr/>
          <p:nvPr/>
        </p:nvSpPr>
        <p:spPr>
          <a:xfrm>
            <a:off x="757516" y="522288"/>
            <a:ext cx="2001688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779661"/>
            <a:ext cx="10868745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spc="-63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Project Background &amp; Strategic Context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546086" y="1513086"/>
            <a:ext cx="5469694" cy="2431256"/>
          </a:xfrm>
          <a:prstGeom prst="roundRect">
            <a:avLst>
              <a:gd name="adj" fmla="val 4745"/>
            </a:avLst>
          </a:prstGeom>
          <a:solidFill>
            <a:srgbClr val="9C9283"/>
          </a:solidFill>
          <a:ln/>
        </p:spPr>
      </p:sp>
      <p:sp>
        <p:nvSpPr>
          <p:cNvPr id="6" name="Text 4"/>
          <p:cNvSpPr/>
          <p:nvPr/>
        </p:nvSpPr>
        <p:spPr>
          <a:xfrm>
            <a:off x="706221" y="1668264"/>
            <a:ext cx="5149424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32" kern="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Brand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6221" y="2073771"/>
            <a:ext cx="5149424" cy="100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Uniquexcel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is a fast-growing U.S. fashion and beauty startup specializing in skincare and haircare products. Rapid market scaling has introduced significant operational complexity across the supply chain.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97653" y="1668264"/>
            <a:ext cx="5238917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32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Challenge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297653" y="2073771"/>
            <a:ext cx="5238917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Aggressive growth outpaced operational infrastructure, surfacing four critical pain points: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97653" y="2717998"/>
            <a:ext cx="5238917" cy="1172071"/>
          </a:xfrm>
          <a:prstGeom prst="rect">
            <a:avLst/>
          </a:prstGeom>
          <a:noFill/>
          <a:ln/>
        </p:spPr>
        <p:txBody>
          <a:bodyPr wrap="square" lIns="0" tIns="64089" rIns="0" bIns="0" rtlCol="0" anchor="t">
            <a:normAutofit/>
          </a:bodyPr>
          <a:lstStyle/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Inventory stockouts disrupting customer fulfillment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Elevated shipping and manufacturing cost overruns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Delivery delays reducing customer satisfaction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Defective items eroding brand quality perception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1475" y="4118868"/>
            <a:ext cx="5356786" cy="928687"/>
          </a:xfrm>
          <a:prstGeom prst="roundRect">
            <a:avLst>
              <a:gd name="adj" fmla="val 7246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27" dist="20320" dir="2700000">
              <a:srgbClr val="ccc4b8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7960" y="4285357"/>
            <a:ext cx="5023816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32" kern="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Ask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27960" y="4628753"/>
            <a:ext cx="5023816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Defined stakeholder requirements and operational metrics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3435" y="4118868"/>
            <a:ext cx="5356786" cy="928687"/>
          </a:xfrm>
          <a:prstGeom prst="roundRect">
            <a:avLst>
              <a:gd name="adj" fmla="val 7246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27" dist="20320" dir="2700000">
              <a:srgbClr val="ccc4b8">
                <a:alpha val="1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39920" y="4285357"/>
            <a:ext cx="5023816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32" kern="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Prepare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339920" y="4628753"/>
            <a:ext cx="5023816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Inspected dataset: SKUs, inventory, order volumes, carriers, costs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1475" y="5202734"/>
            <a:ext cx="5356786" cy="1181001"/>
          </a:xfrm>
          <a:prstGeom prst="roundRect">
            <a:avLst>
              <a:gd name="adj" fmla="val 5698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27" dist="20320" dir="2700000">
              <a:srgbClr val="ccc4b8">
                <a:alpha val="10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7960" y="5369223"/>
            <a:ext cx="5023816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32" kern="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Process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27960" y="5712619"/>
            <a:ext cx="5023816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Cleaned data, deduplicated records, calculated Profit &amp; Stockout Risk metrics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3435" y="5202734"/>
            <a:ext cx="5356786" cy="1181001"/>
          </a:xfrm>
          <a:prstGeom prst="roundRect">
            <a:avLst>
              <a:gd name="adj" fmla="val 5698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27" dist="20320" dir="2700000">
              <a:srgbClr val="ccc4b8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39920" y="5369223"/>
            <a:ext cx="5023816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32" kern="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Analyze &amp; Share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339920" y="5712619"/>
            <a:ext cx="5023816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Built Pivot Tables, dynamic slicers, KPI summaries, and visual charts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3748"/>
            <a:ext cx="1472667" cy="247352"/>
          </a:xfrm>
          <a:prstGeom prst="roundRect">
            <a:avLst>
              <a:gd name="adj" fmla="val 22116"/>
            </a:avLst>
          </a:prstGeom>
          <a:solidFill>
            <a:srgbClr val="E8E6E3"/>
          </a:solidFill>
          <a:ln/>
        </p:spPr>
      </p:sp>
      <p:sp>
        <p:nvSpPr>
          <p:cNvPr id="3" name="Text 1"/>
          <p:cNvSpPr/>
          <p:nvPr/>
        </p:nvSpPr>
        <p:spPr>
          <a:xfrm>
            <a:off x="759104" y="512564"/>
            <a:ext cx="1886994" cy="149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PROBLEM FRAMING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775196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spc="-64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Key Business Questions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61475" y="1524198"/>
            <a:ext cx="1086874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analysis was structured around five core operational questions designed to surface actionable insights for the Uniquexcel leadership team.</a:t>
            </a:r>
            <a:endParaRPr lang="en-US" sz="1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221409"/>
            <a:ext cx="3516026" cy="20063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9437" y="2403177"/>
            <a:ext cx="3076300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32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Stockout Risk Identification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9437" y="2753618"/>
            <a:ext cx="3076300" cy="1292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Which SKUs are at high risk of stockout based on low available inventory versus high incoming order quantity? Proactive identification prevents revenue loss and customer attrition.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7735" y="2221409"/>
            <a:ext cx="3516125" cy="20063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5698" y="2403177"/>
            <a:ext cx="307639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32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Operational Bottlenecks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95698" y="2753618"/>
            <a:ext cx="3076399" cy="1292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Which specific suppliers and logistics routes are driving up delivery delays and unit shipping costs? Pinpointing these nodes is essential to cost reduction.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4095" y="2221409"/>
            <a:ext cx="3516125" cy="20063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72057" y="2403177"/>
            <a:ext cx="307639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32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Quality Assurance Linkage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272057" y="2753618"/>
            <a:ext cx="3076399" cy="1292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Is there a measurable correlation between product defect rates and specific suppliers or longer manufacturing lead times? Quality data must inform sourcing decisions.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387949"/>
            <a:ext cx="3516026" cy="200630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9437" y="4569718"/>
            <a:ext cx="3076300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32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Net Profitability by Product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919437" y="4920159"/>
            <a:ext cx="3076300" cy="1292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What is the true net profit per SKU when accounting for revenue, unit shipping cost, and manufacturing cost? Formula: </a:t>
            </a:r>
            <a:pPr algn="l"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Profit = Revenue − (Manufacturing Cost + Shipping Cost)</a:t>
            </a:r>
            <a:endParaRPr lang="en-US" sz="12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37735" y="4387949"/>
            <a:ext cx="3516125" cy="200630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595698" y="4569718"/>
            <a:ext cx="307639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32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Transportation Mode Efficiency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4595698" y="4920159"/>
            <a:ext cx="3076399" cy="1292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How do Air, Road, and Rail freight modes compare on cost efficiency? Which mode should anchor Uniquexcel's standard logistics strategy?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57498"/>
            <a:ext cx="1025499" cy="208062"/>
          </a:xfrm>
          <a:prstGeom prst="roundRect">
            <a:avLst>
              <a:gd name="adj" fmla="val 22118"/>
            </a:avLst>
          </a:prstGeom>
          <a:solidFill>
            <a:srgbClr val="E8E6E3"/>
          </a:solidFill>
          <a:ln/>
        </p:spPr>
      </p:sp>
      <p:sp>
        <p:nvSpPr>
          <p:cNvPr id="3" name="Text 1"/>
          <p:cNvSpPr/>
          <p:nvPr/>
        </p:nvSpPr>
        <p:spPr>
          <a:xfrm>
            <a:off x="743626" y="498574"/>
            <a:ext cx="1470782" cy="125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METHODOLOGY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10902"/>
            <a:ext cx="10868745" cy="427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spc="-54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 Methodology &amp; Analytics Framework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661475" y="1422301"/>
            <a:ext cx="5267292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7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 Preparation &amp; Cleaning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1749723"/>
            <a:ext cx="5267292" cy="40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raw dataset required structured remediation before any analysis could be performed: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1475" y="2252166"/>
            <a:ext cx="5267292" cy="1280716"/>
          </a:xfrm>
          <a:prstGeom prst="rect">
            <a:avLst/>
          </a:prstGeom>
          <a:noFill/>
          <a:ln/>
        </p:spPr>
        <p:txBody>
          <a:bodyPr wrap="square" lIns="0" tIns="54786" rIns="0" bIns="0" rtlCol="0" anchor="t">
            <a:normAutofit/>
          </a:bodyPr>
          <a:lstStyle/>
          <a:p>
            <a:pPr algn="l" marL="213360" indent="-213360">
              <a:lnSpc>
                <a:spcPct val="122000"/>
              </a:lnSpc>
              <a:buSzPct val="100000"/>
              <a:buChar char="•"/>
            </a:pPr>
            <a:r>
              <a:rPr lang="en-US" sz="10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Deduplication:</a:t>
            </a:r>
            <a:pPr algn="l" marL="213360" indent="-21336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Removed 19 duplicate records identified across the SKU dataset</a:t>
            </a:r>
            <a:endParaRPr lang="en-US" sz="1050" dirty="0"/>
          </a:p>
          <a:p>
            <a:pPr algn="l" marL="213360" indent="-213360">
              <a:lnSpc>
                <a:spcPct val="122000"/>
              </a:lnSpc>
              <a:buSzPct val="100000"/>
              <a:buChar char="•"/>
            </a:pPr>
            <a:r>
              <a:rPr lang="en-US" sz="10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Null Value Treatment:</a:t>
            </a:r>
            <a:pPr algn="l" marL="213360" indent="-21336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Cleaned missing values across cost, inventory, and supplier fields</a:t>
            </a:r>
            <a:endParaRPr lang="en-US" sz="1050" dirty="0"/>
          </a:p>
          <a:p>
            <a:pPr algn="l" marL="213360" indent="-213360">
              <a:lnSpc>
                <a:spcPct val="122000"/>
              </a:lnSpc>
              <a:buSzPct val="100000"/>
              <a:buChar char="•"/>
            </a:pPr>
            <a:r>
              <a:rPr lang="en-US" sz="10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Standardization:</a:t>
            </a:r>
            <a:pPr algn="l" marL="213360" indent="-213360">
              <a:lnSpc>
                <a:spcPct val="122000"/>
              </a:lnSpc>
              <a:buSzPct val="10000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Normalized categorical fields including transportation mode labels and supplier identifiers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0657" y="1308894"/>
            <a:ext cx="5464534" cy="2639715"/>
          </a:xfrm>
          <a:prstGeom prst="roundRect">
            <a:avLst>
              <a:gd name="adj" fmla="val 3736"/>
            </a:avLst>
          </a:prstGeom>
          <a:solidFill>
            <a:srgbClr val="D9CFC1"/>
          </a:solidFill>
          <a:ln/>
        </p:spPr>
      </p:sp>
      <p:sp>
        <p:nvSpPr>
          <p:cNvPr id="9" name="Text 7"/>
          <p:cNvSpPr/>
          <p:nvPr/>
        </p:nvSpPr>
        <p:spPr>
          <a:xfrm>
            <a:off x="6307575" y="1422301"/>
            <a:ext cx="5190697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7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Core Calculated Metrics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7575" y="1749723"/>
            <a:ext cx="5800282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Profit Formula: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7575" y="2077541"/>
            <a:ext cx="5190697" cy="492919"/>
          </a:xfrm>
          <a:prstGeom prst="roundRect">
            <a:avLst>
              <a:gd name="adj" fmla="val 11670"/>
            </a:avLst>
          </a:prstGeom>
          <a:solidFill>
            <a:srgbClr val="CCC2B4"/>
          </a:solidFill>
          <a:ln/>
        </p:spPr>
      </p:sp>
      <p:sp>
        <p:nvSpPr>
          <p:cNvPr id="12" name="Text 10"/>
          <p:cNvSpPr/>
          <p:nvPr/>
        </p:nvSpPr>
        <p:spPr>
          <a:xfrm>
            <a:off x="6471877" y="2214463"/>
            <a:ext cx="547167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 = Revenue − (Manufacturing Cost + Shipping Cost)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07575" y="2698055"/>
            <a:ext cx="5800282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Stockout Risk Logic: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7575" y="3025874"/>
            <a:ext cx="5190697" cy="492919"/>
          </a:xfrm>
          <a:prstGeom prst="roundRect">
            <a:avLst>
              <a:gd name="adj" fmla="val 11670"/>
            </a:avLst>
          </a:prstGeom>
          <a:solidFill>
            <a:srgbClr val="CCC2B4"/>
          </a:solidFill>
          <a:ln/>
        </p:spPr>
      </p:sp>
      <p:sp>
        <p:nvSpPr>
          <p:cNvPr id="15" name="Text 13"/>
          <p:cNvSpPr/>
          <p:nvPr/>
        </p:nvSpPr>
        <p:spPr>
          <a:xfrm>
            <a:off x="6471877" y="3162796"/>
            <a:ext cx="547167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IF(Order Quantity &gt; Availability, "High Risk", "Low Risk")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7575" y="3646388"/>
            <a:ext cx="5800282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Multi-condition IF logic applied across all 488 SKUs to flag demand-supply gaps.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1475" y="4076204"/>
            <a:ext cx="273837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22" kern="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1475" y="4289921"/>
            <a:ext cx="5377621" cy="1905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9" name="Text 17"/>
          <p:cNvSpPr/>
          <p:nvPr/>
        </p:nvSpPr>
        <p:spPr>
          <a:xfrm>
            <a:off x="661475" y="4396482"/>
            <a:ext cx="5377621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7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Ask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1475" y="4678462"/>
            <a:ext cx="5377621" cy="40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Clarified stakeholder requirements, defined success metrics, and scoped deliverables with the operations team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52500" y="4076204"/>
            <a:ext cx="273837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22" kern="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52500" y="4289921"/>
            <a:ext cx="5377720" cy="1905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23" name="Text 21"/>
          <p:cNvSpPr/>
          <p:nvPr/>
        </p:nvSpPr>
        <p:spPr>
          <a:xfrm>
            <a:off x="6152500" y="4396482"/>
            <a:ext cx="5377720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7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Prepare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52500" y="4678462"/>
            <a:ext cx="5377720" cy="40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Inspected internal dataset structure covering SKUs, inventory levels, order volumes, carrier records, and cost data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1475" y="5295007"/>
            <a:ext cx="273837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22" kern="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1475" y="5508724"/>
            <a:ext cx="5377621" cy="1905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27" name="Text 25"/>
          <p:cNvSpPr/>
          <p:nvPr/>
        </p:nvSpPr>
        <p:spPr>
          <a:xfrm>
            <a:off x="661475" y="5615285"/>
            <a:ext cx="5377621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7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Process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1475" y="5897265"/>
            <a:ext cx="5377621" cy="40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Executed data cleaning, deduplication, formula engineering, and categorical standardization across all fields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52500" y="5295007"/>
            <a:ext cx="273837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-22" kern="0" dirty="0">
                <a:solidFill>
                  <a:srgbClr val="4C4C4C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04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52500" y="5508724"/>
            <a:ext cx="5377720" cy="1905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1" name="Text 29"/>
          <p:cNvSpPr/>
          <p:nvPr/>
        </p:nvSpPr>
        <p:spPr>
          <a:xfrm>
            <a:off x="6152500" y="5615285"/>
            <a:ext cx="5377720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7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Analyze &amp; Share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52500" y="5897265"/>
            <a:ext cx="5377720" cy="40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Constructed Pivot Tables, dynamic slicers, KPI summary metrics, and visual chart layouts for executive review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99269"/>
            <a:ext cx="460463" cy="235446"/>
          </a:xfrm>
          <a:prstGeom prst="roundRect">
            <a:avLst>
              <a:gd name="adj" fmla="val 22127"/>
            </a:avLst>
          </a:prstGeom>
          <a:solidFill>
            <a:srgbClr val="E8E6E3"/>
          </a:solidFill>
          <a:ln/>
        </p:spPr>
      </p:sp>
      <p:sp>
        <p:nvSpPr>
          <p:cNvPr id="3" name="Text 1"/>
          <p:cNvSpPr/>
          <p:nvPr/>
        </p:nvSpPr>
        <p:spPr>
          <a:xfrm>
            <a:off x="754441" y="545703"/>
            <a:ext cx="884116" cy="142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KPIS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792857"/>
            <a:ext cx="10868745" cy="48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spc="-61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Key Performance Indicators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661475" y="1495326"/>
            <a:ext cx="11478330" cy="24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Four headline metrics derived from the cleaned dataset establish the operational baseline for Uniquexcel's supply chain as of the analysis period.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1475" y="1976636"/>
            <a:ext cx="5343491" cy="511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000" spc="-81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488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61475" y="2674739"/>
            <a:ext cx="5343491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spc="-31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SKUs Analyzed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1475" y="3004145"/>
            <a:ext cx="5343491" cy="4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Total products reviewed across the full inventory dataset, covering all product lines in skincare and haircare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86630" y="1976636"/>
            <a:ext cx="5343590" cy="511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000" spc="-81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$5.48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186630" y="2674739"/>
            <a:ext cx="5343590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spc="-31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Avg. Shipping Cost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86630" y="3004145"/>
            <a:ext cx="5343590" cy="4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Average unit shipping cost across all carriers and transportation modes in the analyzed period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1475" y="3852962"/>
            <a:ext cx="5343491" cy="511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000" spc="-81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14.7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61475" y="4551065"/>
            <a:ext cx="5343491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spc="-31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Days Lead Time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1475" y="4880471"/>
            <a:ext cx="5343491" cy="4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Average manufacturing lead time in days, measured from order placement to production completion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86630" y="3852962"/>
            <a:ext cx="5343590" cy="511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000" spc="-81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46%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186630" y="4551065"/>
            <a:ext cx="5343590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spc="-31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High Stockout Risk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86630" y="4880471"/>
            <a:ext cx="5343590" cy="4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Share of SKUs flagged as high-risk — demand exceeds available inventory units at current levels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1475" y="5524599"/>
            <a:ext cx="10868745" cy="834132"/>
          </a:xfrm>
          <a:prstGeom prst="roundRect">
            <a:avLst>
              <a:gd name="adj" fmla="val 7807"/>
            </a:avLst>
          </a:prstGeom>
          <a:solidFill>
            <a:srgbClr val="FCF2B5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451" y="5731768"/>
            <a:ext cx="193769" cy="1549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65196" y="5708650"/>
            <a:ext cx="10210048" cy="4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Nearly half of all SKUs (46%) face potential stockout conditions — representing the single most urgent operational risk identified in this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4973"/>
            <a:ext cx="680723" cy="204192"/>
          </a:xfrm>
          <a:prstGeom prst="roundRect">
            <a:avLst>
              <a:gd name="adj" fmla="val 22112"/>
            </a:avLst>
          </a:prstGeom>
          <a:solidFill>
            <a:srgbClr val="E8E6E3"/>
          </a:solidFill>
          <a:ln/>
        </p:spPr>
      </p:sp>
      <p:sp>
        <p:nvSpPr>
          <p:cNvPr id="3" name="Text 1"/>
          <p:cNvSpPr/>
          <p:nvPr/>
        </p:nvSpPr>
        <p:spPr>
          <a:xfrm>
            <a:off x="742038" y="615255"/>
            <a:ext cx="1129180" cy="123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FINDINGS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822821"/>
            <a:ext cx="10868745" cy="419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53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Critical Insights &amp; Findings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515566"/>
            <a:ext cx="527046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6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Stockout Exposure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1834654"/>
            <a:ext cx="5270467" cy="58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b="1" dirty="0">
                <a:solidFill>
                  <a:srgbClr val="9C9283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46% of inventory</a:t>
            </a:r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is categorized as high risk. Demand is consistently outpacing available units, creating a systemic fulfillment gap that threatens customer retention and revenue capture.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61475" y="2575322"/>
            <a:ext cx="5270467" cy="19050"/>
          </a:xfrm>
          <a:prstGeom prst="roundRect">
            <a:avLst>
              <a:gd name="adj" fmla="val 49999"/>
            </a:avLst>
          </a:prstGeom>
          <a:solidFill>
            <a:srgbClr val="4C4C4C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2750741"/>
            <a:ext cx="527046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6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Supplier Performance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3083520"/>
            <a:ext cx="5270467" cy="1040705"/>
          </a:xfrm>
          <a:prstGeom prst="roundRect">
            <a:avLst>
              <a:gd name="adj" fmla="val 5423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1475" y="3431480"/>
            <a:ext cx="5270467" cy="83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1475" y="3776266"/>
            <a:ext cx="5270467" cy="83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02263" y="3161705"/>
            <a:ext cx="1655324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Supplier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16680" y="3161705"/>
            <a:ext cx="1655324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Defect Rate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31097" y="3161705"/>
            <a:ext cx="1655324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Lead Time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45514" y="3161705"/>
            <a:ext cx="1655324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Assessment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2263" y="3506490"/>
            <a:ext cx="1655324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Supplier 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16680" y="3506490"/>
            <a:ext cx="1655324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Highest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31097" y="3506490"/>
            <a:ext cx="1655324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Fast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45514" y="3506490"/>
            <a:ext cx="1655324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Quality concern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02263" y="3851275"/>
            <a:ext cx="1655324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Supplier 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116680" y="3851275"/>
            <a:ext cx="1655324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Lowest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31097" y="3851275"/>
            <a:ext cx="1655324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Longest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45514" y="3851275"/>
            <a:ext cx="1655324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Quality leader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66103" y="1515566"/>
            <a:ext cx="527046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6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Route &amp; Transport Efficiency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6103" y="1848346"/>
            <a:ext cx="5270467" cy="1385491"/>
          </a:xfrm>
          <a:prstGeom prst="roundRect">
            <a:avLst>
              <a:gd name="adj" fmla="val 4074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6103" y="2196306"/>
            <a:ext cx="5270467" cy="83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266103" y="2541091"/>
            <a:ext cx="5270467" cy="83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266103" y="2885877"/>
            <a:ext cx="5270467" cy="839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06890" y="1926530"/>
            <a:ext cx="1655324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Route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721308" y="1926530"/>
            <a:ext cx="1655324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Cost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035725" y="1926530"/>
            <a:ext cx="1655324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Speed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350142" y="1926530"/>
            <a:ext cx="1655324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Verdict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6890" y="2271316"/>
            <a:ext cx="1655324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Route 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721308" y="2271316"/>
            <a:ext cx="1655324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Highest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035725" y="2271316"/>
            <a:ext cx="1655324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Moderate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350142" y="2271316"/>
            <a:ext cx="1655324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Minimize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06890" y="2616101"/>
            <a:ext cx="1655324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Route B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721308" y="2616101"/>
            <a:ext cx="1655324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Lowest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035725" y="2616101"/>
            <a:ext cx="1655324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Fastest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350142" y="2616101"/>
            <a:ext cx="1655324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Preferred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06890" y="2960886"/>
            <a:ext cx="1655324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Route C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721308" y="2960886"/>
            <a:ext cx="1655324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Moderate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035725" y="2960886"/>
            <a:ext cx="1655324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Slowest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0350142" y="2960886"/>
            <a:ext cx="1655324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Reduce reliance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66103" y="3390205"/>
            <a:ext cx="5270467" cy="19050"/>
          </a:xfrm>
          <a:prstGeom prst="roundRect">
            <a:avLst>
              <a:gd name="adj" fmla="val 49999"/>
            </a:avLst>
          </a:prstGeom>
          <a:solidFill>
            <a:srgbClr val="4C4C4C">
              <a:alpha val="5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266103" y="3565624"/>
            <a:ext cx="527046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6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Transportation Mode Cost Ranking</a:t>
            </a:r>
            <a:endParaRPr lang="en-US" sz="1300" dirty="0"/>
          </a:p>
        </p:txBody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47053" y="3879354"/>
            <a:ext cx="5289517" cy="551954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6438540" y="3898404"/>
            <a:ext cx="5098029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6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Air Freight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6438540" y="4217491"/>
            <a:ext cx="5098029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Most expensive — reserve for urgent, time-critical shipments only</a:t>
            </a:r>
            <a:endParaRPr lang="en-US" sz="1050" dirty="0"/>
          </a:p>
        </p:txBody>
      </p:sp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7053" y="4611489"/>
            <a:ext cx="5289517" cy="551954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6438540" y="4630539"/>
            <a:ext cx="5098029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6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Road Freight</a:t>
            </a:r>
            <a:endParaRPr lang="en-US" sz="1300" dirty="0"/>
          </a:p>
        </p:txBody>
      </p:sp>
      <p:sp>
        <p:nvSpPr>
          <p:cNvPr id="52" name="Text 48"/>
          <p:cNvSpPr/>
          <p:nvPr/>
        </p:nvSpPr>
        <p:spPr>
          <a:xfrm>
            <a:off x="6438540" y="4949627"/>
            <a:ext cx="5098029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Best cost efficiency — optimal for standard non-urgent shipments</a:t>
            </a:r>
            <a:endParaRPr lang="en-US" sz="1050" dirty="0"/>
          </a:p>
        </p:txBody>
      </p:sp>
      <p:sp>
        <p:nvSpPr>
          <p:cNvPr id="53" name="Shape 49"/>
          <p:cNvSpPr/>
          <p:nvPr/>
        </p:nvSpPr>
        <p:spPr>
          <a:xfrm>
            <a:off x="6266103" y="5300762"/>
            <a:ext cx="5270467" cy="19050"/>
          </a:xfrm>
          <a:prstGeom prst="roundRect">
            <a:avLst>
              <a:gd name="adj" fmla="val 49999"/>
            </a:avLst>
          </a:prstGeom>
          <a:solidFill>
            <a:srgbClr val="4C4C4C">
              <a:alpha val="50000"/>
            </a:srgbClr>
          </a:solidFill>
          <a:ln/>
        </p:spPr>
      </p:sp>
      <p:sp>
        <p:nvSpPr>
          <p:cNvPr id="54" name="Text 50"/>
          <p:cNvSpPr/>
          <p:nvPr/>
        </p:nvSpPr>
        <p:spPr>
          <a:xfrm>
            <a:off x="6266103" y="5476180"/>
            <a:ext cx="527046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6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Top Performer</a:t>
            </a:r>
            <a:endParaRPr lang="en-US" sz="1300" dirty="0"/>
          </a:p>
        </p:txBody>
      </p:sp>
      <p:sp>
        <p:nvSpPr>
          <p:cNvPr id="55" name="Text 51"/>
          <p:cNvSpPr/>
          <p:nvPr/>
        </p:nvSpPr>
        <p:spPr>
          <a:xfrm>
            <a:off x="6266103" y="5795268"/>
            <a:ext cx="5270467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SKU 198</a:t>
            </a:r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identified as the most profitable product in the current inventory line — a priority candidate for increased marketing investment and inventory allocation.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82402"/>
            <a:ext cx="919536" cy="211832"/>
          </a:xfrm>
          <a:prstGeom prst="roundRect">
            <a:avLst>
              <a:gd name="adj" fmla="val 22135"/>
            </a:avLst>
          </a:prstGeom>
          <a:solidFill>
            <a:srgbClr val="E8E6E3"/>
          </a:solidFill>
          <a:ln/>
        </p:spPr>
      </p:sp>
      <p:sp>
        <p:nvSpPr>
          <p:cNvPr id="3" name="Text 1"/>
          <p:cNvSpPr/>
          <p:nvPr/>
        </p:nvSpPr>
        <p:spPr>
          <a:xfrm>
            <a:off x="745114" y="524173"/>
            <a:ext cx="1361842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ACTION PLAN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41263"/>
            <a:ext cx="108687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spc="-55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Operational Recommendations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61475" y="1353939"/>
            <a:ext cx="1147833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Five evidence-based recommendations derived directly from the data findings. Each action targets a specific quantified bottleneck identified in the analysis.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1475" y="1692275"/>
            <a:ext cx="313920" cy="313928"/>
          </a:xfrm>
          <a:prstGeom prst="roundRect">
            <a:avLst>
              <a:gd name="adj" fmla="val 18671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27" dist="17780" dir="2700000">
              <a:srgbClr val="ccc4b8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811" y="1718419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spc="-33" kern="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3066" y="1740198"/>
            <a:ext cx="10437155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7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Automate Restocking Alerts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93066" y="2028825"/>
            <a:ext cx="10437155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Deploy automated reorder triggers for all high-risk SKUs (the 46% flagged by stockout logic). When inventory drops below defined safety thresholds, the system should automatically initiate replenishment workflows — removing human latency from a time-sensitive process.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1475" y="2676029"/>
            <a:ext cx="313920" cy="313928"/>
          </a:xfrm>
          <a:prstGeom prst="roundRect">
            <a:avLst>
              <a:gd name="adj" fmla="val 18671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27" dist="17780" dir="2700000">
              <a:srgbClr val="ccc4b8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811" y="2702173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spc="-33" kern="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3066" y="2723952"/>
            <a:ext cx="10437155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7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Supplier Quality Audits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93066" y="3012579"/>
            <a:ext cx="10437155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Formally re-evaluate Supplier 1's quality control protocols given its high defect rate. Redirect urgent and quality-sensitive orders to </a:t>
            </a:r>
            <a:pPr algn="l" indent="0" marL="0">
              <a:lnSpc>
                <a:spcPct val="123000"/>
              </a:lnSpc>
              <a:buNone/>
            </a:pPr>
            <a:r>
              <a:rPr lang="en-US" sz="10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Supplier 4</a:t>
            </a:r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which holds the lowest defect rate in the dataset. Account for Supplier 4's longer lead time in production scheduling.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1475" y="3659783"/>
            <a:ext cx="313920" cy="313928"/>
          </a:xfrm>
          <a:prstGeom prst="roundRect">
            <a:avLst>
              <a:gd name="adj" fmla="val 18671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27" dist="17780" dir="2700000">
              <a:srgbClr val="ccc4b8">
                <a:alpha val="1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811" y="3685927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spc="-33" kern="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3066" y="3707705"/>
            <a:ext cx="10437155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7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Route B as Primary Pathway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93066" y="3996333"/>
            <a:ext cx="10437155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Designate </a:t>
            </a:r>
            <a:pPr algn="l" indent="0" marL="0">
              <a:lnSpc>
                <a:spcPct val="123000"/>
              </a:lnSpc>
              <a:buNone/>
            </a:pPr>
            <a:r>
              <a:rPr lang="en-US" sz="10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Route B</a:t>
            </a:r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as the default logistics pathway for all standard shipments. It is both the most cost-efficient and fastest route in the analysis. Actively reduce Route A dependency to eliminate unnecessary cost overhead.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1475" y="4643537"/>
            <a:ext cx="313920" cy="313928"/>
          </a:xfrm>
          <a:prstGeom prst="roundRect">
            <a:avLst>
              <a:gd name="adj" fmla="val 18671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27" dist="17780" dir="2700000">
              <a:srgbClr val="ccc4b8">
                <a:alpha val="10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811" y="4669681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spc="-33" kern="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3066" y="4691459"/>
            <a:ext cx="10437155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7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Shift to Road Freight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93066" y="4980087"/>
            <a:ext cx="10437155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Transition non-urgent standard shipments from Air to </a:t>
            </a:r>
            <a:pPr algn="l" indent="0" marL="0">
              <a:lnSpc>
                <a:spcPct val="123000"/>
              </a:lnSpc>
              <a:buNone/>
            </a:pPr>
            <a:r>
              <a:rPr lang="en-US" sz="10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Road freight</a:t>
            </a:r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. Air freight should be reserved exclusively for time-critical orders. This single modal shift represents a significant per-unit shipping cost reduction opportunity.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1475" y="5627291"/>
            <a:ext cx="313920" cy="313928"/>
          </a:xfrm>
          <a:prstGeom prst="roundRect">
            <a:avLst>
              <a:gd name="adj" fmla="val 18671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27" dist="17780" dir="2700000">
              <a:srgbClr val="ccc4b8">
                <a:alpha val="10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3811" y="5653435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spc="-33" kern="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3066" y="5675213"/>
            <a:ext cx="10437155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7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Prioritize High-Margin SKUs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093066" y="5963841"/>
            <a:ext cx="10437155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Concentrate marketing spend and inventory allocation around top profit generators — beginning with </a:t>
            </a:r>
            <a:pPr algn="l" indent="0" marL="0">
              <a:lnSpc>
                <a:spcPct val="123000"/>
              </a:lnSpc>
              <a:buNone/>
            </a:pPr>
            <a:r>
              <a:rPr lang="en-US" sz="10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SKU 198</a:t>
            </a:r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. Use profitability data from the dashboard to continuously refresh this prioritization as the product mix evolves.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09687"/>
            <a:ext cx="828753" cy="204192"/>
          </a:xfrm>
          <a:prstGeom prst="roundRect">
            <a:avLst>
              <a:gd name="adj" fmla="val 22112"/>
            </a:avLst>
          </a:prstGeom>
          <a:solidFill>
            <a:srgbClr val="E8E6E3"/>
          </a:solidFill>
          <a:ln/>
        </p:spPr>
      </p:sp>
      <p:sp>
        <p:nvSpPr>
          <p:cNvPr id="3" name="Text 1"/>
          <p:cNvSpPr/>
          <p:nvPr/>
        </p:nvSpPr>
        <p:spPr>
          <a:xfrm>
            <a:off x="742038" y="549970"/>
            <a:ext cx="1277211" cy="123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DASHBOARD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757535"/>
            <a:ext cx="10868745" cy="419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53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Interactive Dashboard &amp; Features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475" y="1341140"/>
            <a:ext cx="10868745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Excel-based executive dashboard delivers real-time operational visibility through four integrated capability layers, all linked to the underlying cleaned dataset for full drill-down access.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4739" y="1853505"/>
            <a:ext cx="5463939" cy="1929705"/>
          </a:xfrm>
          <a:prstGeom prst="roundRect">
            <a:avLst>
              <a:gd name="adj" fmla="val 5014"/>
            </a:avLst>
          </a:prstGeom>
          <a:solidFill>
            <a:srgbClr val="9C9283"/>
          </a:solidFill>
          <a:ln/>
        </p:spPr>
      </p:sp>
      <p:sp>
        <p:nvSpPr>
          <p:cNvPr id="7" name="Text 5"/>
          <p:cNvSpPr/>
          <p:nvPr/>
        </p:nvSpPr>
        <p:spPr>
          <a:xfrm>
            <a:off x="699078" y="1962646"/>
            <a:ext cx="5195261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6" kern="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KPI Summary Cards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9078" y="2281734"/>
            <a:ext cx="5195261" cy="58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Immediate executive-level visibility into all four critical metrics — total SKUs, average shipping cost, average lead time, and high-stockout risk rate — displayed as top-line summary cards for rapid situational awareness.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66103" y="1962646"/>
            <a:ext cx="527046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6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Dynamic Slicers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66103" y="2281734"/>
            <a:ext cx="5270467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Real-time filtering capability allows stakeholders to segment the entire dashboard by: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66103" y="2769493"/>
            <a:ext cx="5270467" cy="622498"/>
          </a:xfrm>
          <a:prstGeom prst="rect">
            <a:avLst/>
          </a:prstGeom>
          <a:noFill/>
          <a:ln/>
        </p:spPr>
        <p:txBody>
          <a:bodyPr wrap="square" lIns="0" tIns="53752" rIns="0" bIns="0" rtlCol="0" anchor="t">
            <a:normAutofit/>
          </a:bodyPr>
          <a:lstStyle/>
          <a:p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Geographic Location</a:t>
            </a:r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isolate performance by region or distribution zone</a:t>
            </a:r>
            <a:endParaRPr lang="en-US" sz="1050" dirty="0"/>
          </a:p>
          <a:p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Stockout Risk Level</a:t>
            </a:r>
            <a:pPr algn="l" marL="213360" indent="-213360">
              <a:lnSpc>
                <a:spcPct val="121000"/>
              </a:lnSpc>
              <a:buSzPct val="10000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filter to view only high-risk or low-risk inventory segments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66103" y="3490218"/>
            <a:ext cx="5880052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All charts and pivot tables respond dynamically to slicer selections.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1475" y="3906044"/>
            <a:ext cx="5379804" cy="1166515"/>
          </a:xfrm>
          <a:prstGeom prst="roundRect">
            <a:avLst>
              <a:gd name="adj" fmla="val 4838"/>
            </a:avLst>
          </a:prstGeom>
          <a:solidFill>
            <a:srgbClr val="FDFBF7"/>
          </a:solidFill>
          <a:ln w="19050">
            <a:solidFill>
              <a:srgbClr val="E6DED2"/>
            </a:solidFill>
            <a:prstDash val="solid"/>
          </a:ln>
          <a:effectLst>
            <a:outerShdw sx="100000" sy="100000" kx="0" ky="0" algn="bl" rotWithShape="0" blurRad="127" dist="17780" dir="2700000">
              <a:srgbClr val="e6ded2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4863" y="4059436"/>
            <a:ext cx="507302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6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3D Pie Charts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4863" y="4334867"/>
            <a:ext cx="5073027" cy="58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Route distribution breakdown (Routes A, B, C) and transportation mode split (Air, Road, Rail) — providing instant proportional visibility into logistics composition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50416" y="3906044"/>
            <a:ext cx="5379804" cy="1166515"/>
          </a:xfrm>
          <a:prstGeom prst="roundRect">
            <a:avLst>
              <a:gd name="adj" fmla="val 4838"/>
            </a:avLst>
          </a:prstGeom>
          <a:solidFill>
            <a:srgbClr val="FDFBF7"/>
          </a:solidFill>
          <a:ln w="19050">
            <a:solidFill>
              <a:srgbClr val="E6DED2"/>
            </a:solidFill>
            <a:prstDash val="solid"/>
          </a:ln>
          <a:effectLst>
            <a:outerShdw sx="100000" sy="100000" kx="0" ky="0" algn="bl" rotWithShape="0" blurRad="127" dist="17780" dir="2700000">
              <a:srgbClr val="e6ded2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3805" y="4059436"/>
            <a:ext cx="507302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6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Combo Charts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3805" y="4334867"/>
            <a:ext cx="5073027" cy="58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Overlaid visualization of Supplier Defect Rates vs. Manufacturing Lead Times — enabling simultaneous quality and speed assessment across all active suppliers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1475" y="5181699"/>
            <a:ext cx="5379804" cy="1166515"/>
          </a:xfrm>
          <a:prstGeom prst="roundRect">
            <a:avLst>
              <a:gd name="adj" fmla="val 4838"/>
            </a:avLst>
          </a:prstGeom>
          <a:solidFill>
            <a:srgbClr val="FDFBF7"/>
          </a:solidFill>
          <a:ln w="19050">
            <a:solidFill>
              <a:srgbClr val="E6DED2"/>
            </a:solidFill>
            <a:prstDash val="solid"/>
          </a:ln>
          <a:effectLst>
            <a:outerShdw sx="100000" sy="100000" kx="0" ky="0" algn="bl" rotWithShape="0" blurRad="127" dist="17780" dir="2700000">
              <a:srgbClr val="e6ded2">
                <a:alpha val="10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4863" y="5335091"/>
            <a:ext cx="507302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6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Clustered Column Charts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4863" y="5610523"/>
            <a:ext cx="5073027" cy="58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Top 10 most profitable SKUs ranked by net margin — built directly from the Profit formula to identify and compare the highest-value products in the portfolio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50416" y="5181699"/>
            <a:ext cx="5379804" cy="1166515"/>
          </a:xfrm>
          <a:prstGeom prst="roundRect">
            <a:avLst>
              <a:gd name="adj" fmla="val 4838"/>
            </a:avLst>
          </a:prstGeom>
          <a:solidFill>
            <a:srgbClr val="FDFBF7"/>
          </a:solidFill>
          <a:ln w="19050">
            <a:solidFill>
              <a:srgbClr val="E6DED2"/>
            </a:solidFill>
            <a:prstDash val="solid"/>
          </a:ln>
          <a:effectLst>
            <a:outerShdw sx="100000" sy="100000" kx="0" ky="0" algn="bl" rotWithShape="0" blurRad="127" dist="17780" dir="2700000">
              <a:srgbClr val="e6ded2">
                <a:alpha val="10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03805" y="5335091"/>
            <a:ext cx="5073027" cy="2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6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Full Drill-Down Capability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3805" y="5610523"/>
            <a:ext cx="5073027" cy="389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All visualizations are linked to the underlying dataset. Stakeholders can click through any chart element to access the raw records driving that data point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54819"/>
            <a:ext cx="1190000" cy="211832"/>
          </a:xfrm>
          <a:prstGeom prst="roundRect">
            <a:avLst>
              <a:gd name="adj" fmla="val 22135"/>
            </a:avLst>
          </a:prstGeom>
          <a:solidFill>
            <a:srgbClr val="E8E6E3"/>
          </a:solidFill>
          <a:ln/>
        </p:spPr>
      </p:sp>
      <p:sp>
        <p:nvSpPr>
          <p:cNvPr id="3" name="Text 1"/>
          <p:cNvSpPr/>
          <p:nvPr/>
        </p:nvSpPr>
        <p:spPr>
          <a:xfrm>
            <a:off x="745114" y="496590"/>
            <a:ext cx="1632306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IMPLEMENTATION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13680"/>
            <a:ext cx="108687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spc="-55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Next Steps &amp; Implementation Timeline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61475" y="1326356"/>
            <a:ext cx="1147833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phased six-week implementation plan prioritized by urgency and operational impact. Each phase addresses a distinct workstream identified in the findings.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086323" y="1664692"/>
            <a:ext cx="19050" cy="3902273"/>
          </a:xfrm>
          <a:prstGeom prst="roundRect">
            <a:avLst>
              <a:gd name="adj" fmla="val 49999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539343" y="1812131"/>
            <a:ext cx="418593" cy="19050"/>
          </a:xfrm>
          <a:prstGeom prst="roundRect">
            <a:avLst>
              <a:gd name="adj" fmla="val 49999"/>
            </a:avLst>
          </a:prstGeom>
          <a:solidFill>
            <a:srgbClr val="CCC4B8"/>
          </a:solidFill>
          <a:ln/>
        </p:spPr>
      </p:sp>
      <p:sp>
        <p:nvSpPr>
          <p:cNvPr id="8" name="Shape 6"/>
          <p:cNvSpPr/>
          <p:nvPr/>
        </p:nvSpPr>
        <p:spPr>
          <a:xfrm>
            <a:off x="5938887" y="1664692"/>
            <a:ext cx="313920" cy="313928"/>
          </a:xfrm>
          <a:prstGeom prst="roundRect">
            <a:avLst>
              <a:gd name="adj" fmla="val 18671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27" dist="17780" dir="2700000">
              <a:srgbClr val="ccc4b8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91224" y="1690836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spc="-33" kern="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1475" y="1712615"/>
            <a:ext cx="473668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spc="-27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Weeks 1–2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1475" y="2001242"/>
            <a:ext cx="4736684" cy="894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3000"/>
              </a:lnSpc>
              <a:spcAft>
                <a:spcPts val="550"/>
              </a:spcAft>
              <a:buNone/>
            </a:pPr>
            <a:r>
              <a:rPr lang="en-US" sz="10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Automated Reorder System</a:t>
            </a:r>
            <a:endParaRPr lang="en-US" sz="1050" dirty="0"/>
          </a:p>
          <a:p>
            <a:pPr algn="r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Deploy automated reorder alert logic for all high-risk SKUs. Define safety stock thresholds per SKU category and activate replenishment triggers within inventory management system.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33758" y="2605782"/>
            <a:ext cx="418593" cy="19050"/>
          </a:xfrm>
          <a:prstGeom prst="roundRect">
            <a:avLst>
              <a:gd name="adj" fmla="val 49999"/>
            </a:avLst>
          </a:prstGeom>
          <a:solidFill>
            <a:srgbClr val="CCC4B8"/>
          </a:solidFill>
          <a:ln/>
        </p:spPr>
      </p:sp>
      <p:sp>
        <p:nvSpPr>
          <p:cNvPr id="13" name="Shape 11"/>
          <p:cNvSpPr/>
          <p:nvPr/>
        </p:nvSpPr>
        <p:spPr>
          <a:xfrm>
            <a:off x="5938887" y="2458343"/>
            <a:ext cx="313920" cy="313928"/>
          </a:xfrm>
          <a:prstGeom prst="roundRect">
            <a:avLst>
              <a:gd name="adj" fmla="val 18671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27" dist="17780" dir="2700000">
              <a:srgbClr val="ccc4b8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91224" y="2484487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spc="-33" kern="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93536" y="2506266"/>
            <a:ext cx="473668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7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Weeks 3–4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793536" y="2794893"/>
            <a:ext cx="4736684" cy="11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550"/>
              </a:spcAft>
              <a:buNone/>
            </a:pPr>
            <a:r>
              <a:rPr lang="en-US" sz="10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Supplier Quality Audits</a:t>
            </a:r>
            <a:endParaRPr lang="en-US" sz="10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Conduct structured quality audits of Supplier 1's production and QC processes. Transition all urgent and quality-sensitive orders to Supplier 4 immediately. Adjust production schedules to accommodate Supplier 4's longer lead times.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39343" y="3441799"/>
            <a:ext cx="418593" cy="19050"/>
          </a:xfrm>
          <a:prstGeom prst="roundRect">
            <a:avLst>
              <a:gd name="adj" fmla="val 49999"/>
            </a:avLst>
          </a:prstGeom>
          <a:solidFill>
            <a:srgbClr val="CCC4B8"/>
          </a:solidFill>
          <a:ln/>
        </p:spPr>
      </p:sp>
      <p:sp>
        <p:nvSpPr>
          <p:cNvPr id="18" name="Shape 16"/>
          <p:cNvSpPr/>
          <p:nvPr/>
        </p:nvSpPr>
        <p:spPr>
          <a:xfrm>
            <a:off x="5938887" y="3294360"/>
            <a:ext cx="313920" cy="313928"/>
          </a:xfrm>
          <a:prstGeom prst="roundRect">
            <a:avLst>
              <a:gd name="adj" fmla="val 18671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27" dist="17780" dir="2700000">
              <a:srgbClr val="ccc4b8">
                <a:alpha val="10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91224" y="3320504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spc="-33" kern="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1475" y="3342283"/>
            <a:ext cx="473668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spc="-27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Weeks 5–6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61475" y="3630910"/>
            <a:ext cx="4736684" cy="11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3000"/>
              </a:lnSpc>
              <a:spcAft>
                <a:spcPts val="550"/>
              </a:spcAft>
              <a:buNone/>
            </a:pPr>
            <a:r>
              <a:rPr lang="en-US" sz="10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Logistics Restructuring</a:t>
            </a:r>
            <a:endParaRPr lang="en-US" sz="1050" dirty="0"/>
          </a:p>
          <a:p>
            <a:pPr algn="r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Formally designate Route B as the primary delivery pathway. Reroute standard shipments off Route A. Execute modal shift from Air to Road freight for all non-urgent orders and validate cost savings against the $5.48 baseline.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33758" y="4277816"/>
            <a:ext cx="418593" cy="19050"/>
          </a:xfrm>
          <a:prstGeom prst="roundRect">
            <a:avLst>
              <a:gd name="adj" fmla="val 49999"/>
            </a:avLst>
          </a:prstGeom>
          <a:solidFill>
            <a:srgbClr val="CCC4B8"/>
          </a:solidFill>
          <a:ln/>
        </p:spPr>
      </p:sp>
      <p:sp>
        <p:nvSpPr>
          <p:cNvPr id="23" name="Shape 21"/>
          <p:cNvSpPr/>
          <p:nvPr/>
        </p:nvSpPr>
        <p:spPr>
          <a:xfrm>
            <a:off x="5938887" y="4130377"/>
            <a:ext cx="313920" cy="313928"/>
          </a:xfrm>
          <a:prstGeom prst="roundRect">
            <a:avLst>
              <a:gd name="adj" fmla="val 18671"/>
            </a:avLst>
          </a:prstGeom>
          <a:solidFill>
            <a:srgbClr val="E6DED2">
              <a:alpha val="50000"/>
            </a:srgbClr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27" dist="17780" dir="2700000">
              <a:srgbClr val="ccc4b8">
                <a:alpha val="10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91224" y="4156521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spc="-33" kern="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93536" y="4178300"/>
            <a:ext cx="473668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7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Ongoing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793536" y="4466927"/>
            <a:ext cx="4736684" cy="11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550"/>
              </a:spcAft>
              <a:buNone/>
            </a:pPr>
            <a:r>
              <a:rPr lang="en-US" sz="10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Dashboard Monitoring</a:t>
            </a:r>
            <a:endParaRPr lang="en-US" sz="10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Review dashboard KPIs on a weekly cadence. Continuously adjust inventory allocation based on live profitability metrics. Reassess the high-stockout risk rate (currently 46%) monthly as restocking automation takes effect.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61475" y="5699423"/>
            <a:ext cx="10868745" cy="705048"/>
          </a:xfrm>
          <a:prstGeom prst="roundRect">
            <a:avLst>
              <a:gd name="adj" fmla="val 8313"/>
            </a:avLst>
          </a:prstGeom>
          <a:solidFill>
            <a:srgbClr val="E8E6E3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973" y="5869484"/>
            <a:ext cx="174422" cy="13950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114893" y="5851922"/>
            <a:ext cx="10275829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Success metric: Reduce high-stockout risk rate from </a:t>
            </a:r>
            <a:pPr algn="l" indent="0" marL="0">
              <a:lnSpc>
                <a:spcPct val="123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46%</a:t>
            </a:r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to below </a:t>
            </a:r>
            <a:pPr algn="l" indent="0" marL="0">
              <a:lnSpc>
                <a:spcPct val="123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25%</a:t>
            </a:r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within 60 days of full implementation. Track via the interactive dashboard weekly KPI review.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2026-08-20T18:08:34Z</dcterms:created>
  <dcterms:modified xsi:type="dcterms:W3CDTF">2026-08-20T18:08:34Z</dcterms:modified>
</cp:coreProperties>
</file>